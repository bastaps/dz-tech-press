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1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ALGERIA TECH - ANALYSE ARPCE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38BDF8"/>
                </a:solidFill>
                <a:latin typeface="Arial"/>
              </a:rPr>
              <a:t>Rapport Automatique de Données</a:t>
            </a:r>
          </a:p>
          <a:p>
            <a:r>
              <a:rPr sz="2400" b="0">
                <a:solidFill>
                  <a:srgbClr val="38BDF8"/>
                </a:solidFill>
                <a:latin typeface="Arial"/>
              </a:rPr>
              <a:t>12/05/2026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Introduction &amp; État des Lieux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>
            <a:endParaRPr/>
          </a:p>
          <a:p>
            <a:pPr>
              <a:defRPr sz="1800">
                <a:solidFill>
                  <a:srgbClr val="C8C8C8"/>
                </a:solidFill>
              </a:defRPr>
            </a:pPr>
            <a:r>
              <a:t>0 </a:t>
            </a:r>
            <a:br/>
            <a:r>
              <a:t>ARPCE/Observatoire du marché de l’Internet en Algérie T2-2023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REPUBLIQUE ALGERIENNE DEMOCRATIQUE ET POPULAIRE </a:t>
            </a:r>
            <a:br/>
            <a:r>
              <a:t>AUTORITÉ DE RÉGULATION DE LA POSTE ET DES COMMUNICATIONS ELECTRONIQUES </a:t>
            </a:r>
            <a:br/>
            <a:r>
              <a:t> </a:t>
            </a:r>
            <a:br/>
            <a:r>
              <a:t>O...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Chiffres Clés du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>
            <a:endParaRPr/>
          </a:p>
          <a:p>
            <a:pPr>
              <a:defRPr sz="3200" b="1">
                <a:solidFill>
                  <a:srgbClr val="38BDF8"/>
                </a:solidFill>
              </a:defRPr>
            </a:pPr>
            <a:r>
              <a:t>Internet: 2025.0 abonnés</a:t>
            </a:r>
          </a:p>
          <a:p>
            <a:endParaRPr/>
          </a:p>
          <a:p>
            <a:pPr>
              <a:defRPr sz="3200" b="1">
                <a:solidFill>
                  <a:srgbClr val="38BDF8"/>
                </a:solidFill>
              </a:defRPr>
            </a:pPr>
            <a:r>
              <a:t>4g: 2025.0 abonnés</a:t>
            </a:r>
          </a:p>
          <a:p>
            <a:endParaRPr/>
          </a:p>
          <a:p>
            <a:pPr>
              <a:defRPr sz="3200" b="1">
                <a:solidFill>
                  <a:srgbClr val="38BDF8"/>
                </a:solidFill>
              </a:defRPr>
            </a:pPr>
            <a:r>
              <a:t>Internet: 2025.0 abonnés</a:t>
            </a:r>
          </a:p>
          <a:p>
            <a:endParaRPr/>
          </a:p>
          <a:p>
            <a:pPr>
              <a:defRPr sz="3200" b="1">
                <a:solidFill>
                  <a:srgbClr val="38BDF8"/>
                </a:solidFill>
              </a:defRPr>
            </a:pPr>
            <a:r>
              <a:t>4g: 2025.0 abonnés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964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rPr dirty="0"/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rPr dirty="0"/>
                        <a:t>2025.0 </a:t>
                      </a:r>
                      <a:r>
                        <a:rPr dirty="0" err="1"/>
                        <a:t>abonnés</a:t>
                      </a:r>
                      <a:endParaRPr dirty="0"/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rPr dirty="0" err="1"/>
                        <a:t>Répartition</a:t>
                      </a:r>
                      <a:r>
                        <a:rPr dirty="0"/>
                        <a:t> du parc global par type </a:t>
                      </a:r>
                      <a:r>
                        <a:rPr dirty="0" err="1"/>
                        <a:t>d’accès</a:t>
                      </a:r>
                      <a:r>
                        <a:rPr dirty="0"/>
                        <a:t> </a:t>
                      </a:r>
                    </a:p>
                    <a:p>
                      <a:r>
                        <a:rPr dirty="0"/>
                        <a:t>  </a:t>
                      </a:r>
                    </a:p>
                    <a:p>
                      <a:r>
                        <a:rPr dirty="0"/>
                        <a:t>3ème </a:t>
                      </a:r>
                      <a:r>
                        <a:rPr dirty="0" err="1"/>
                        <a:t>trimestre</a:t>
                      </a:r>
                      <a:r>
                        <a:rPr dirty="0"/>
                        <a:t> 2025 </a:t>
                      </a:r>
                    </a:p>
                    <a:p>
                      <a:r>
                        <a:rPr dirty="0" err="1"/>
                        <a:t>Abonnés</a:t>
                      </a:r>
                      <a:r>
                        <a:rPr dirty="0"/>
                        <a:t>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2025.0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2025.0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rPr dirty="0" err="1"/>
                        <a:t>Répartition</a:t>
                      </a:r>
                      <a:r>
                        <a:rPr dirty="0"/>
                        <a:t> par type </a:t>
                      </a:r>
                      <a:r>
                        <a:rPr dirty="0" err="1"/>
                        <a:t>d’abonné</a:t>
                      </a:r>
                      <a:r>
                        <a:rPr dirty="0"/>
                        <a:t> </a:t>
                      </a:r>
                    </a:p>
                    <a:p>
                      <a:r>
                        <a:rPr dirty="0"/>
                        <a:t>Types </a:t>
                      </a:r>
                      <a:r>
                        <a:rPr dirty="0" err="1"/>
                        <a:t>d’abonnés</a:t>
                      </a:r>
                      <a:r>
                        <a:rPr dirty="0"/>
                        <a:t> </a:t>
                      </a:r>
                    </a:p>
                    <a:p>
                      <a:r>
                        <a:rPr dirty="0"/>
                        <a:t>3ème </a:t>
                      </a:r>
                      <a:r>
                        <a:rPr dirty="0" err="1"/>
                        <a:t>trimestre</a:t>
                      </a:r>
                      <a:r>
                        <a:rPr dirty="0"/>
                        <a:t> 2025 </a:t>
                      </a:r>
                    </a:p>
                    <a:p>
                      <a:r>
                        <a:rPr dirty="0" err="1"/>
                        <a:t>Abonnés</a:t>
                      </a:r>
                      <a:r>
                        <a:rPr dirty="0"/>
                        <a:t> aux </a:t>
                      </a:r>
                      <a:r>
                        <a:rPr dirty="0" err="1"/>
                        <a:t>offr</a:t>
                      </a:r>
                      <a:r>
                        <a:rPr dirty="0"/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2025.0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rPr dirty="0" err="1"/>
                        <a:t>Répartition</a:t>
                      </a:r>
                      <a:r>
                        <a:rPr dirty="0"/>
                        <a:t> du </a:t>
                      </a:r>
                      <a:r>
                        <a:rPr dirty="0" err="1"/>
                        <a:t>nombre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d’abonnés</a:t>
                      </a:r>
                      <a:r>
                        <a:rPr dirty="0"/>
                        <a:t> par </a:t>
                      </a:r>
                      <a:r>
                        <a:rPr dirty="0" err="1"/>
                        <a:t>technologie</a:t>
                      </a:r>
                      <a:r>
                        <a:rPr dirty="0"/>
                        <a:t> </a:t>
                      </a:r>
                    </a:p>
                    <a:p>
                      <a:r>
                        <a:rPr dirty="0"/>
                        <a:t>  </a:t>
                      </a:r>
                    </a:p>
                    <a:p>
                      <a:r>
                        <a:rPr dirty="0"/>
                        <a:t>3ème </a:t>
                      </a:r>
                      <a:r>
                        <a:rPr dirty="0" err="1"/>
                        <a:t>trimestre</a:t>
                      </a:r>
                      <a:r>
                        <a:rPr dirty="0"/>
                        <a:t> 2025 </a:t>
                      </a:r>
                    </a:p>
                    <a:p>
                      <a:r>
                        <a:rPr dirty="0" err="1"/>
                        <a:t>Abonnés</a:t>
                      </a:r>
                      <a:r>
                        <a:rPr dirty="0"/>
                        <a:t>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2025.0 utilisateurs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923.0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862.0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du trafic Data consommé global et par type d’abonnés  </a:t>
                      </a:r>
                    </a:p>
                    <a:p>
                      <a:r>
                        <a:t>Volume Data global  </a:t>
                      </a:r>
                    </a:p>
                    <a:p>
                      <a:r>
                        <a:t>(E...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819.0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630.0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rPr dirty="0"/>
                        <a:t>Volume de </a:t>
                      </a:r>
                      <a:r>
                        <a:rPr dirty="0" err="1"/>
                        <a:t>trafic</a:t>
                      </a:r>
                      <a:r>
                        <a:rPr dirty="0"/>
                        <a:t> Data consommé global </a:t>
                      </a:r>
                    </a:p>
                    <a:p>
                      <a:r>
                        <a:rPr dirty="0"/>
                        <a:t> </a:t>
                      </a:r>
                    </a:p>
                    <a:p>
                      <a:r>
                        <a:rPr dirty="0"/>
                        <a:t>3ème </a:t>
                      </a:r>
                      <a:r>
                        <a:rPr dirty="0" err="1"/>
                        <a:t>trimestre</a:t>
                      </a:r>
                      <a:r>
                        <a:rPr dirty="0"/>
                        <a:t> 2025 </a:t>
                      </a:r>
                    </a:p>
                    <a:p>
                      <a:r>
                        <a:rPr dirty="0"/>
                        <a:t>Volume du </a:t>
                      </a:r>
                      <a:r>
                        <a:rPr dirty="0" err="1"/>
                        <a:t>trafic</a:t>
                      </a:r>
                      <a:r>
                        <a:rPr dirty="0"/>
                        <a:t> (Go) </a:t>
                      </a:r>
                    </a:p>
                    <a:p>
                      <a:r>
                        <a:rPr dirty="0"/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964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622.0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d’abonnement </a:t>
                      </a:r>
                    </a:p>
                    <a:p>
                      <a:r>
                        <a:t>Répartition par type d’abonnement </a:t>
                      </a:r>
                    </a:p>
                    <a:p>
                      <a:r>
                        <a:t>3ème trimestre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390.0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rPr dirty="0" err="1"/>
                        <a:t>Bande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passante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consommée</a:t>
                      </a:r>
                      <a:r>
                        <a:rPr dirty="0"/>
                        <a:t> (Pic de </a:t>
                      </a:r>
                      <a:r>
                        <a:rPr dirty="0" err="1"/>
                        <a:t>consommation</a:t>
                      </a:r>
                      <a:r>
                        <a:rPr dirty="0"/>
                        <a:t>) </a:t>
                      </a:r>
                    </a:p>
                    <a:p>
                      <a:r>
                        <a:rPr dirty="0"/>
                        <a:t> </a:t>
                      </a:r>
                    </a:p>
                    <a:p>
                      <a:r>
                        <a:rPr dirty="0"/>
                        <a:t>  </a:t>
                      </a:r>
                    </a:p>
                    <a:p>
                      <a:r>
                        <a:rPr dirty="0"/>
                        <a:t>2ème </a:t>
                      </a:r>
                      <a:r>
                        <a:rPr dirty="0" err="1"/>
                        <a:t>trimestre</a:t>
                      </a:r>
                      <a:r>
                        <a:rPr dirty="0"/>
                        <a:t> 2025 </a:t>
                      </a:r>
                    </a:p>
                    <a:p>
                      <a:r>
                        <a:rPr dirty="0"/>
                        <a:t>3ème </a:t>
                      </a:r>
                      <a:r>
                        <a:rPr dirty="0" err="1"/>
                        <a:t>trimes</a:t>
                      </a:r>
                      <a:r>
                        <a:rPr dirty="0"/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367.0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de trafic Data consommé global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Volume du trafic (Go)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347.0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319.0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314.0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285.0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260.0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Bande passante consommée (Pic de consommation)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2ème trimestre 2025 </a:t>
                      </a:r>
                    </a:p>
                    <a:p>
                      <a:r>
                        <a:t>3ème trimes...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253.0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rPr dirty="0" err="1"/>
                        <a:t>Répartition</a:t>
                      </a:r>
                      <a:r>
                        <a:rPr dirty="0"/>
                        <a:t> du </a:t>
                      </a:r>
                      <a:r>
                        <a:rPr dirty="0" err="1"/>
                        <a:t>nombre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d’abonnés</a:t>
                      </a:r>
                      <a:r>
                        <a:rPr dirty="0"/>
                        <a:t> par </a:t>
                      </a:r>
                      <a:r>
                        <a:rPr dirty="0" err="1"/>
                        <a:t>technologie</a:t>
                      </a:r>
                      <a:r>
                        <a:rPr dirty="0"/>
                        <a:t> </a:t>
                      </a:r>
                    </a:p>
                    <a:p>
                      <a:r>
                        <a:rPr dirty="0" err="1"/>
                        <a:t>Nombre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d’abonnés</a:t>
                      </a:r>
                      <a:r>
                        <a:rPr dirty="0"/>
                        <a:t> </a:t>
                      </a:r>
                    </a:p>
                    <a:p>
                      <a:r>
                        <a:rPr dirty="0"/>
                        <a:t>3ème </a:t>
                      </a:r>
                      <a:r>
                        <a:rPr dirty="0" err="1"/>
                        <a:t>trimestre</a:t>
                      </a:r>
                      <a:r>
                        <a:rPr dirty="0"/>
                        <a:t>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011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233.0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233.0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d’abonné </a:t>
                      </a:r>
                    </a:p>
                    <a:p>
                      <a:r>
                        <a:t>Types d’abonnés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aux offr...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183.0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d’abonné </a:t>
                      </a:r>
                    </a:p>
                    <a:p>
                      <a:r>
                        <a:t>Types d’abonnés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aux offr...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156.0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144.0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Ce taux a enregistré une diminution de 0,42 point par rapport au deuxième trimestre d...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rPr dirty="0" err="1"/>
                        <a:t>Abonnés</a:t>
                      </a:r>
                      <a:endParaRPr dirty="0"/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117.0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97.4 %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97.4 %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97,40%</a:t>
                      </a:r>
                    </a:p>
                    <a:p>
                      <a:r>
                        <a:t>2,60%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96.79 %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rPr dirty="0" err="1"/>
                        <a:t>Répartition</a:t>
                      </a:r>
                      <a:r>
                        <a:rPr dirty="0"/>
                        <a:t> par type </a:t>
                      </a:r>
                      <a:r>
                        <a:rPr dirty="0" err="1"/>
                        <a:t>d’abonné</a:t>
                      </a:r>
                      <a:r>
                        <a:rPr dirty="0"/>
                        <a:t> </a:t>
                      </a:r>
                    </a:p>
                    <a:p>
                      <a:r>
                        <a:rPr dirty="0"/>
                        <a:t>Types </a:t>
                      </a:r>
                      <a:r>
                        <a:rPr dirty="0" err="1"/>
                        <a:t>d’abonnés</a:t>
                      </a:r>
                      <a:r>
                        <a:rPr dirty="0"/>
                        <a:t> </a:t>
                      </a:r>
                    </a:p>
                    <a:p>
                      <a:r>
                        <a:rPr dirty="0"/>
                        <a:t>3ème </a:t>
                      </a:r>
                      <a:r>
                        <a:rPr dirty="0" err="1"/>
                        <a:t>trimestre</a:t>
                      </a:r>
                      <a:r>
                        <a:rPr dirty="0"/>
                        <a:t> 2025 </a:t>
                      </a:r>
                    </a:p>
                    <a:p>
                      <a:r>
                        <a:rPr dirty="0" err="1"/>
                        <a:t>Abonnés</a:t>
                      </a:r>
                      <a:r>
                        <a:rPr dirty="0"/>
                        <a:t> aux </a:t>
                      </a:r>
                      <a:r>
                        <a:rPr dirty="0" err="1"/>
                        <a:t>offr</a:t>
                      </a:r>
                      <a:r>
                        <a:rPr dirty="0"/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101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96.79 %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96,79%</a:t>
                      </a:r>
                    </a:p>
                    <a:p>
                      <a:r>
                        <a:t>3,21%</a:t>
                      </a:r>
                    </a:p>
                    <a:p>
                      <a:r>
                        <a:t>Répartition du parc global de l'internet fixe par type </a:t>
                      </a:r>
                    </a:p>
                    <a:p>
                      <a:r>
                        <a:t>d’abonné</a:t>
                      </a:r>
                    </a:p>
                    <a:p>
                      <a:r>
                        <a:t>Abonnés...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95.59 %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d’abonnement </a:t>
                      </a:r>
                    </a:p>
                    <a:p>
                      <a:r>
                        <a:t>Répartition par type d’abonnement </a:t>
                      </a:r>
                    </a:p>
                    <a:p>
                      <a:r>
                        <a:t>3ème trimestre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95.59 %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88.72 %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88.72 %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60.46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Parc global des abonnés de l’Internet (fixe et mobile)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Parc g...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57.14 %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57.14 %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53.636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d’abonnement </a:t>
                      </a:r>
                    </a:p>
                    <a:p>
                      <a:r>
                        <a:t>Répartition par type d’abonnement </a:t>
                      </a:r>
                    </a:p>
                    <a:p>
                      <a:r>
                        <a:t>3ème trimestre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321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53.636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50.0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d’abonné </a:t>
                      </a:r>
                    </a:p>
                    <a:p>
                      <a:r>
                        <a:t>Types d’abonnés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aux offr...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37.62 %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32,33%</a:t>
                      </a:r>
                    </a:p>
                    <a:p>
                      <a:r>
                        <a:t>29,99%</a:t>
                      </a:r>
                    </a:p>
                    <a:p>
                      <a:r>
                        <a:t>37,62%</a:t>
                      </a:r>
                    </a:p>
                    <a:p>
                      <a:r>
                        <a:t>0,06%</a:t>
                      </a:r>
                    </a:p>
                    <a:p>
                      <a:r>
                        <a:t>Répartition du parc global des abonnés internet par type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Valeur (millions)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32.55 %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Volume de trafic Data fixe global consommé </a:t>
                      </a:r>
                    </a:p>
                    <a:p>
                      <a:r>
                        <a:t>En millions de Go T3-2024 </a:t>
                      </a:r>
                    </a:p>
                    <a:p>
                      <a:r>
                        <a:t>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32.33 %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32,33%</a:t>
                      </a:r>
                    </a:p>
                    <a:p>
                      <a:r>
                        <a:t>29,99%</a:t>
                      </a:r>
                    </a:p>
                    <a:p>
                      <a:r>
                        <a:t>37,62%</a:t>
                      </a:r>
                    </a:p>
                    <a:p>
                      <a:r>
                        <a:t>0,06%</a:t>
                      </a:r>
                    </a:p>
                    <a:p>
                      <a:r>
                        <a:t>Répartition du parc global des abonnés internet par type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29.99 %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32,33%</a:t>
                      </a:r>
                    </a:p>
                    <a:p>
                      <a:r>
                        <a:t>29,99%</a:t>
                      </a:r>
                    </a:p>
                    <a:p>
                      <a:r>
                        <a:t>37,62%</a:t>
                      </a:r>
                    </a:p>
                    <a:p>
                      <a:r>
                        <a:t>0,06%</a:t>
                      </a:r>
                    </a:p>
                    <a:p>
                      <a:r>
                        <a:t>Répartition du parc global des abonnés internet par type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Valeur (millions)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23.16 %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Volume de trafic Data mobile consommé  </a:t>
                      </a:r>
                    </a:p>
                    <a:p>
                      <a:r>
                        <a:t>En millions de Go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T4-2...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18.2 %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18.2 %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146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Valeur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16.17 %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trafic mensuel moyen de la Data consommée par abonné </a:t>
                      </a:r>
                    </a:p>
                    <a:p>
                      <a:r>
                        <a:t>En Go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Hausse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15.4 %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marché de l’Internet de téléphonie fixe </a:t>
                      </a:r>
                    </a:p>
                    <a:p>
                      <a:r>
                        <a:t>En millions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T4-2024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Hausse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15.4 %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marché de l’Internet de téléphonie fixe </a:t>
                      </a:r>
                    </a:p>
                    <a:p>
                      <a:r>
                        <a:t>En millions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T4-2024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11.28 %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11.28 %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global par type d’accès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Internet...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11.17 %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11.17 %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9.88 %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du trafic Data consommé global et par type d’abonnés  </a:t>
                      </a:r>
                    </a:p>
                    <a:p>
                      <a:r>
                        <a:t>Volume Data global  </a:t>
                      </a:r>
                    </a:p>
                    <a:p>
                      <a:r>
                        <a:t>(E...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Augmentation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9.49 %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de trafic Data consommé global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Volume du trafic (Go)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9.05 %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9.05 %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9.01 %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8.58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du trafic Data consommé global et par type d’abonnés  </a:t>
                      </a:r>
                    </a:p>
                    <a:p>
                      <a:r>
                        <a:t>Volume Data global  </a:t>
                      </a:r>
                    </a:p>
                    <a:p>
                      <a:r>
                        <a:t>(E...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7.07 %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parc global des abonnés de l’Internet (fixe et mobile) </a:t>
                      </a:r>
                    </a:p>
                    <a:p>
                      <a:r>
                        <a:t>En millions </a:t>
                      </a:r>
                    </a:p>
                    <a:p>
                      <a:r>
                        <a:t>T3-...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5.95 %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marché de l’Internet de téléphonie mobile </a:t>
                      </a:r>
                    </a:p>
                    <a:p>
                      <a:r>
                        <a:t>En millions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T4-2024...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5.95 %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Évolution du marché de l’Internet de téléphonie mobile </a:t>
                      </a:r>
                    </a:p>
                    <a:p>
                      <a:r>
                        <a:t>En millions </a:t>
                      </a:r>
                    </a:p>
                    <a:p>
                      <a:r>
                        <a:t>T3-2024 </a:t>
                      </a:r>
                    </a:p>
                    <a:p>
                      <a:r>
                        <a:t>T4-2024...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4.43 %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4.43 %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parc par débit 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Abonnés ADSL/Fibre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10 Mbps ≤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4.41 %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d’abonnement </a:t>
                      </a:r>
                    </a:p>
                    <a:p>
                      <a:r>
                        <a:t>Répartition par type d’abonnement </a:t>
                      </a:r>
                    </a:p>
                    <a:p>
                      <a:r>
                        <a:t>3ème trimestre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4.41 %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3.31 %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3.21 %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par type d’abonné </a:t>
                      </a:r>
                    </a:p>
                    <a:p>
                      <a:r>
                        <a:t>Types d’abonnés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aux offr...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3.21 %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96,79%</a:t>
                      </a:r>
                    </a:p>
                    <a:p>
                      <a:r>
                        <a:t>3,21%</a:t>
                      </a:r>
                    </a:p>
                    <a:p>
                      <a:r>
                        <a:t>Répartition du parc global de l'internet fixe par type </a:t>
                      </a:r>
                    </a:p>
                    <a:p>
                      <a:r>
                        <a:t>d’abonné</a:t>
                      </a:r>
                    </a:p>
                    <a:p>
                      <a:r>
                        <a:t>Abonnés...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3.04 %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2.93 %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2.67 %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Volume du trafic Data consommé global et par type d’abonnés  </a:t>
                      </a:r>
                    </a:p>
                    <a:p>
                      <a:r>
                        <a:t>Volume Data global  </a:t>
                      </a:r>
                    </a:p>
                    <a:p>
                      <a:r>
                        <a:t>(E...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2.6 %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95,59%</a:t>
                      </a:r>
                    </a:p>
                    <a:p>
                      <a:r>
                        <a:t>4,41%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2.6 %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97,40%</a:t>
                      </a:r>
                    </a:p>
                    <a:p>
                      <a:r>
                        <a:t>2,60%</a:t>
                      </a:r>
                    </a:p>
                    <a:p>
                      <a:r>
                        <a:t>Répartition du parc global de l'internet mobile par type </a:t>
                      </a:r>
                    </a:p>
                    <a:p>
                      <a:r>
                        <a:t>d’abonnement (...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2.44 %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56,54</a:t>
                      </a:r>
                    </a:p>
                    <a:p>
                      <a:r>
                        <a:t>57,54</a:t>
                      </a:r>
                    </a:p>
                    <a:p>
                      <a:r>
                        <a:t>58,14</a:t>
                      </a:r>
                    </a:p>
                    <a:p>
                      <a:r>
                        <a:t>59,1</a:t>
                      </a:r>
                    </a:p>
                    <a:p>
                      <a:r>
                        <a:t>60,54</a:t>
                      </a:r>
                    </a:p>
                    <a:p>
                      <a:r>
                        <a:t>0</a:t>
                      </a:r>
                    </a:p>
                    <a:p>
                      <a:r>
                        <a:t>10</a:t>
                      </a:r>
                    </a:p>
                    <a:p>
                      <a:r>
                        <a:t>20</a:t>
                      </a:r>
                    </a:p>
                    <a:p>
                      <a:r>
                        <a:t>30</a:t>
                      </a:r>
                    </a:p>
                    <a:p>
                      <a:r>
                        <a:t>40</a:t>
                      </a:r>
                    </a:p>
                    <a:p>
                      <a:r>
                        <a:t>50</a:t>
                      </a:r>
                    </a:p>
                    <a:p>
                      <a:r>
                        <a:t>60</a:t>
                      </a:r>
                    </a:p>
                    <a:p>
                      <a:r>
                        <a:t>70</a:t>
                      </a:r>
                    </a:p>
                    <a:p>
                      <a:r>
                        <a:t>T3-2024</a:t>
                      </a:r>
                    </a:p>
                    <a:p>
                      <a:r>
                        <a:t>T4-2024</a:t>
                      </a:r>
                    </a:p>
                    <a:p>
                      <a:r>
                        <a:t>T1-2025</a:t>
                      </a:r>
                    </a:p>
                    <a:p>
                      <a:r>
                        <a:t>T2-2025</a:t>
                      </a:r>
                    </a:p>
                    <a:p>
                      <a:r>
                        <a:t>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1.77 %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56,54</a:t>
                      </a:r>
                    </a:p>
                    <a:p>
                      <a:r>
                        <a:t>57,54</a:t>
                      </a:r>
                    </a:p>
                    <a:p>
                      <a:r>
                        <a:t>58,14</a:t>
                      </a:r>
                    </a:p>
                    <a:p>
                      <a:r>
                        <a:t>59,1</a:t>
                      </a:r>
                    </a:p>
                    <a:p>
                      <a:r>
                        <a:t>60,54</a:t>
                      </a:r>
                    </a:p>
                    <a:p>
                      <a:r>
                        <a:t>0</a:t>
                      </a:r>
                    </a:p>
                    <a:p>
                      <a:r>
                        <a:t>10</a:t>
                      </a:r>
                    </a:p>
                    <a:p>
                      <a:r>
                        <a:t>20</a:t>
                      </a:r>
                    </a:p>
                    <a:p>
                      <a:r>
                        <a:t>30</a:t>
                      </a:r>
                    </a:p>
                    <a:p>
                      <a:r>
                        <a:t>40</a:t>
                      </a:r>
                    </a:p>
                    <a:p>
                      <a:r>
                        <a:t>50</a:t>
                      </a:r>
                    </a:p>
                    <a:p>
                      <a:r>
                        <a:t>60</a:t>
                      </a:r>
                    </a:p>
                    <a:p>
                      <a:r>
                        <a:t>70</a:t>
                      </a:r>
                    </a:p>
                    <a:p>
                      <a:r>
                        <a:t>T3-2024</a:t>
                      </a:r>
                    </a:p>
                    <a:p>
                      <a:r>
                        <a:t>T4-2024</a:t>
                      </a:r>
                    </a:p>
                    <a:p>
                      <a:r>
                        <a:t>T1-2025</a:t>
                      </a:r>
                    </a:p>
                    <a:p>
                      <a:r>
                        <a:t>T2-2025</a:t>
                      </a:r>
                    </a:p>
                    <a:p>
                      <a:r>
                        <a:t>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1.65 %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56,54</a:t>
                      </a:r>
                    </a:p>
                    <a:p>
                      <a:r>
                        <a:t>57,54</a:t>
                      </a:r>
                    </a:p>
                    <a:p>
                      <a:r>
                        <a:t>58,14</a:t>
                      </a:r>
                    </a:p>
                    <a:p>
                      <a:r>
                        <a:t>59,1</a:t>
                      </a:r>
                    </a:p>
                    <a:p>
                      <a:r>
                        <a:t>60,54</a:t>
                      </a:r>
                    </a:p>
                    <a:p>
                      <a:r>
                        <a:t>0</a:t>
                      </a:r>
                    </a:p>
                    <a:p>
                      <a:r>
                        <a:t>10</a:t>
                      </a:r>
                    </a:p>
                    <a:p>
                      <a:r>
                        <a:t>20</a:t>
                      </a:r>
                    </a:p>
                    <a:p>
                      <a:r>
                        <a:t>30</a:t>
                      </a:r>
                    </a:p>
                    <a:p>
                      <a:r>
                        <a:t>40</a:t>
                      </a:r>
                    </a:p>
                    <a:p>
                      <a:r>
                        <a:t>50</a:t>
                      </a:r>
                    </a:p>
                    <a:p>
                      <a:r>
                        <a:t>60</a:t>
                      </a:r>
                    </a:p>
                    <a:p>
                      <a:r>
                        <a:t>70</a:t>
                      </a:r>
                    </a:p>
                    <a:p>
                      <a:r>
                        <a:t>T3-2024</a:t>
                      </a:r>
                    </a:p>
                    <a:p>
                      <a:r>
                        <a:t>T4-2024</a:t>
                      </a:r>
                    </a:p>
                    <a:p>
                      <a:r>
                        <a:t>T1-2025</a:t>
                      </a:r>
                    </a:p>
                    <a:p>
                      <a:r>
                        <a:t>T2-2025</a:t>
                      </a:r>
                    </a:p>
                    <a:p>
                      <a:r>
                        <a:t>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1.04 %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56,54</a:t>
                      </a:r>
                    </a:p>
                    <a:p>
                      <a:r>
                        <a:t>57,54</a:t>
                      </a:r>
                    </a:p>
                    <a:p>
                      <a:r>
                        <a:t>58,14</a:t>
                      </a:r>
                    </a:p>
                    <a:p>
                      <a:r>
                        <a:t>59,1</a:t>
                      </a:r>
                    </a:p>
                    <a:p>
                      <a:r>
                        <a:t>60,54</a:t>
                      </a:r>
                    </a:p>
                    <a:p>
                      <a:r>
                        <a:t>0</a:t>
                      </a:r>
                    </a:p>
                    <a:p>
                      <a:r>
                        <a:t>10</a:t>
                      </a:r>
                    </a:p>
                    <a:p>
                      <a:r>
                        <a:t>20</a:t>
                      </a:r>
                    </a:p>
                    <a:p>
                      <a:r>
                        <a:t>30</a:t>
                      </a:r>
                    </a:p>
                    <a:p>
                      <a:r>
                        <a:t>40</a:t>
                      </a:r>
                    </a:p>
                    <a:p>
                      <a:r>
                        <a:t>50</a:t>
                      </a:r>
                    </a:p>
                    <a:p>
                      <a:r>
                        <a:t>60</a:t>
                      </a:r>
                    </a:p>
                    <a:p>
                      <a:r>
                        <a:t>70</a:t>
                      </a:r>
                    </a:p>
                    <a:p>
                      <a:r>
                        <a:t>T3-2024</a:t>
                      </a:r>
                    </a:p>
                    <a:p>
                      <a:r>
                        <a:t>T4-2024</a:t>
                      </a:r>
                    </a:p>
                    <a:p>
                      <a:r>
                        <a:t>T1-2025</a:t>
                      </a:r>
                    </a:p>
                    <a:p>
                      <a:r>
                        <a:t>T2-2025</a:t>
                      </a:r>
                    </a:p>
                    <a:p>
                      <a:r>
                        <a:t>T...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0.06 %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32,33%</a:t>
                      </a:r>
                    </a:p>
                    <a:p>
                      <a:r>
                        <a:t>29,99%</a:t>
                      </a:r>
                    </a:p>
                    <a:p>
                      <a:r>
                        <a:t>37,62%</a:t>
                      </a:r>
                    </a:p>
                    <a:p>
                      <a:r>
                        <a:t>0,06%</a:t>
                      </a:r>
                    </a:p>
                    <a:p>
                      <a:r>
                        <a:t>Répartition du parc global des abonnés internet par type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0.0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Visualisation des Données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analyse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074289"/>
          </a:xfrm>
          <a:prstGeom prst="rect">
            <a:avLst/>
          </a:prstGeom>
          <a:ln w="25400">
            <a:solidFill>
              <a:srgbClr val="38BDF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Analyse Détaillée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>
            <a:endParaRPr/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0 </a:t>
            </a:r>
            <a:br/>
            <a:r>
              <a:t>ARPCE/Observatoire du marché de l’Internet en Algérie T2-2023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REPUBLIQUE ALGERIENNE DEMOCRATIQUE ET POPULAIRE </a:t>
            </a:r>
            <a:br/>
            <a:r>
              <a:t>AUTORITÉ DE RÉGULATION DE...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PARC GLOBAL DES ABONNES DE L’INTERNET (FIXE ET MOBILE) .............................. 1 </a:t>
            </a:r>
            <a:br/>
            <a:r>
              <a:t>1.2....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MARCHE DE L’INTERNET DE TELEPHONIE FIXE ........................................................... 2 </a:t>
            </a:r>
            <a:br/>
            <a:r>
              <a:t>2.1....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MARCHE DE L’INTERNET DE TELEPHONIE MOBILE ...................................................... 4 </a:t>
            </a:r>
            <a:br/>
            <a:r>
              <a:t>3.1....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ÉVOLUTION DU MARCHE DE L’INTERNET EN ALGERIE ................................................. 6 </a:t>
            </a:r>
            <a:br/>
            <a:r>
              <a:t>4.1.ÉVOLUTION DU PARC GLOBAL DES ABONNES DE L’INTERN...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Conclusion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>
            <a:endParaRPr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Les 3 chiffres les plus impactants du rapport :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Internet: 2025.0 abonnés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4g: 2025.0 abonnés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Abonnés: 2025.0 utilisateurs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1766</Words>
  <Application>Microsoft Office PowerPoint</Application>
  <PresentationFormat>Affichage à l'écran (4:3)</PresentationFormat>
  <Paragraphs>610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ALGERIA TECH - ANALYSE ARPCE</vt:lpstr>
      <vt:lpstr>Introduction &amp; État des Lieux</vt:lpstr>
      <vt:lpstr>Chiffres Clés du Rapport</vt:lpstr>
      <vt:lpstr>Dashboard Métriques - Page 1</vt:lpstr>
      <vt:lpstr>Dashboard Métriques - Page 2</vt:lpstr>
      <vt:lpstr>Dashboard Métriques - Page 3</vt:lpstr>
      <vt:lpstr>Dashboard Métriques - Page 4</vt:lpstr>
      <vt:lpstr>Dashboard Métriques - Page 5</vt:lpstr>
      <vt:lpstr>Dashboard Métriques - Page 6</vt:lpstr>
      <vt:lpstr>Dashboard Métriques - Page 7</vt:lpstr>
      <vt:lpstr>Dashboard Métriques - Page 8</vt:lpstr>
      <vt:lpstr>Dashboard Métriques - Page 9</vt:lpstr>
      <vt:lpstr>Visualisation des Données Clés</vt:lpstr>
      <vt:lpstr>Analyse Détaillée</vt:lpstr>
      <vt:lpstr>Conclusion &amp; Perspectives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ALGERIA TECH - ANALYSE ARPCE</dc:title>
  <dc:subject/>
  <dc:creator/>
  <cp:keywords/>
  <dc:description>generated using python-pptx</dc:description>
  <cp:lastModifiedBy>Abderrachid Basta</cp:lastModifiedBy>
  <cp:revision>2</cp:revision>
  <dcterms:created xsi:type="dcterms:W3CDTF">2013-01-27T09:14:16Z</dcterms:created>
  <dcterms:modified xsi:type="dcterms:W3CDTF">2026-05-12T06:09:02Z</dcterms:modified>
  <cp:category/>
</cp:coreProperties>
</file>