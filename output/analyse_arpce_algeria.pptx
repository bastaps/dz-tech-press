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600" b="1">
                <a:solidFill>
                  <a:srgbClr val="FFFFFF"/>
                </a:solidFill>
                <a:latin typeface="Arial"/>
              </a:rPr>
              <a:t>ALGERIA TECH - ANALYSE ARPCE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2400" b="0">
                <a:solidFill>
                  <a:srgbClr val="38BDF8"/>
                </a:solidFill>
                <a:latin typeface="Arial"/>
              </a:rPr>
              <a:t>Rapport Automatique de Données</a:t>
            </a:r>
          </a:p>
          <a:p>
            <a:r>
              <a:rPr sz="2400" b="0">
                <a:solidFill>
                  <a:srgbClr val="38BDF8"/>
                </a:solidFill>
                <a:latin typeface="Arial"/>
              </a:rPr>
              <a:t>12/05/2026</a:t>
            </a:r>
          </a:p>
        </p:txBody>
      </p:sp>
    </p:spTree>
  </p:cSld>
  <p:clrMapOvr>
    <a:masterClrMapping/>
  </p:clrMapOvr>
  <p:transition xmlns:p="http://schemas.openxmlformats.org/officeDocument/2006/main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FFFFFF"/>
                </a:solidFill>
                <a:latin typeface="Arial"/>
              </a:rPr>
              <a:t>Introduction &amp; État des Lieux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ln w="25400">
            <a:solidFill>
              <a:srgbClr val="38BDF8"/>
            </a:solidFill>
          </a:ln>
        </p:spPr>
        <p:txBody>
          <a:bodyPr/>
          <a:lstStyle/>
          <a:p/>
          <a:p>
            <a:pPr>
              <a:defRPr sz="1800">
                <a:solidFill>
                  <a:srgbClr val="C8C8C8"/>
                </a:solidFill>
              </a:defRPr>
            </a:pPr>
            <a:r>
              <a:t>0 </a:t>
            </a:r>
            <a:br/>
            <a:r>
              <a:t>ARPCE/Observatoire du marché de l’Internet en Algérie T2-2023 </a:t>
            </a:r>
            <a:br/>
            <a:r>
              <a:t> </a:t>
            </a:r>
            <a:br/>
            <a:r>
              <a:t> </a:t>
            </a:r>
            <a:br/>
            <a:r>
              <a:t> </a:t>
            </a:r>
            <a:br/>
            <a:r>
              <a:t> </a:t>
            </a:r>
            <a:br/>
            <a:r>
              <a:t> </a:t>
            </a:r>
            <a:br/>
            <a:r>
              <a:t>REPUBLIQUE ALGERIENNE DEMOCRATIQUE ET POPULAIRE </a:t>
            </a:r>
            <a:br/>
            <a:r>
              <a:t>AUTORITÉ DE RÉGULATION DE LA POSTE ET DES COMMUNICATIONS ELECTRONIQUES </a:t>
            </a:r>
            <a:br/>
            <a:r>
              <a:t> </a:t>
            </a:r>
            <a:br/>
            <a:r>
              <a:t>O...</a:t>
            </a:r>
          </a:p>
        </p:txBody>
      </p:sp>
    </p:spTree>
  </p:cSld>
  <p:clrMapOvr>
    <a:masterClrMapping/>
  </p:clrMapOvr>
  <p:transition xmlns:p="http://schemas.openxmlformats.org/officeDocument/2006/main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FFFFFF"/>
                </a:solidFill>
                <a:latin typeface="Arial"/>
              </a:rPr>
              <a:t>Chiffres Clés du Rapport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ln w="25400">
            <a:solidFill>
              <a:srgbClr val="38BDF8"/>
            </a:solidFill>
          </a:ln>
        </p:spPr>
        <p:txBody>
          <a:bodyPr/>
          <a:lstStyle/>
          <a:p/>
          <a:p>
            <a:pPr>
              <a:defRPr sz="3200" b="1">
                <a:solidFill>
                  <a:srgbClr val="38BDF8"/>
                </a:solidFill>
              </a:defRPr>
            </a:pPr>
            <a:r>
              <a:t>Internet: 2025.0 abonnés</a:t>
            </a:r>
          </a:p>
          <a:p/>
          <a:p>
            <a:pPr>
              <a:defRPr sz="3200" b="1">
                <a:solidFill>
                  <a:srgbClr val="38BDF8"/>
                </a:solidFill>
              </a:defRPr>
            </a:pPr>
            <a:r>
              <a:t>4g: 2025.0 abonnés</a:t>
            </a:r>
          </a:p>
          <a:p/>
          <a:p>
            <a:pPr>
              <a:defRPr sz="3200" b="1">
                <a:solidFill>
                  <a:srgbClr val="38BDF8"/>
                </a:solidFill>
              </a:defRPr>
            </a:pPr>
            <a:r>
              <a:t>Internet: 2025.0 abonnés</a:t>
            </a:r>
          </a:p>
          <a:p/>
          <a:p>
            <a:pPr>
              <a:defRPr sz="3200" b="1">
                <a:solidFill>
                  <a:srgbClr val="38BDF8"/>
                </a:solidFill>
              </a:defRPr>
            </a:pPr>
            <a:r>
              <a:t>4g: 2025.0 abonnés</a:t>
            </a:r>
          </a:p>
        </p:txBody>
      </p:sp>
    </p:spTree>
  </p:cSld>
  <p:clrMapOvr>
    <a:masterClrMapping/>
  </p:clrMapOvr>
  <p:transition xmlns:p="http://schemas.openxmlformats.org/officeDocument/2006/main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FFFFFF"/>
                </a:solidFill>
                <a:latin typeface="Arial"/>
              </a:rPr>
              <a:t>Dashboard Métriques - Page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Arial"/>
              </a:rPr>
              <a:t>Détails des Données (1)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82296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828800"/>
                <a:gridCol w="4114800"/>
              </a:tblGrid>
              <a:tr h="457200"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Métrique</a:t>
                      </a:r>
                    </a:p>
                  </a:txBody>
                  <a:tcPr>
                    <a:solidFill>
                      <a:srgbClr val="38BD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Valeur</a:t>
                      </a:r>
                    </a:p>
                  </a:txBody>
                  <a:tcPr>
                    <a:solidFill>
                      <a:srgbClr val="38BD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Observation</a:t>
                      </a:r>
                    </a:p>
                  </a:txBody>
                  <a:tcPr>
                    <a:solidFill>
                      <a:srgbClr val="38BD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Internet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2025.0 abonnés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Répartition du parc global par type d’accès </a:t>
                      </a:r>
                    </a:p>
                    <a:p>
                      <a:r>
                        <a:t>  </a:t>
                      </a:r>
                    </a:p>
                    <a:p>
                      <a:r>
                        <a:t>3ème trimestre 2025 </a:t>
                      </a:r>
                    </a:p>
                    <a:p>
                      <a:r>
                        <a:t>Abonnés Internet...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4g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2025.0 abonnés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Répartition du nombre d’abonnés par technologie </a:t>
                      </a:r>
                    </a:p>
                    <a:p>
                      <a:r>
                        <a:t>Nombre d’abonnés </a:t>
                      </a:r>
                    </a:p>
                    <a:p>
                      <a:r>
                        <a:t>3ème trimestre 202...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Internet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2025.0 abonnés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Répartition par type d’abonné </a:t>
                      </a:r>
                    </a:p>
                    <a:p>
                      <a:r>
                        <a:t>Types d’abonnés </a:t>
                      </a:r>
                    </a:p>
                    <a:p>
                      <a:r>
                        <a:t>3ème trimestre 2025 </a:t>
                      </a:r>
                    </a:p>
                    <a:p>
                      <a:r>
                        <a:t>Abonnés aux offr...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4g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2025.0 abonnés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Répartition du nombre d’abonnés par technologie </a:t>
                      </a:r>
                    </a:p>
                    <a:p>
                      <a:r>
                        <a:t>  </a:t>
                      </a:r>
                    </a:p>
                    <a:p>
                      <a:r>
                        <a:t>3ème trimestre 2025 </a:t>
                      </a:r>
                    </a:p>
                    <a:p>
                      <a:r>
                        <a:t>Abonnés de l...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Abonnés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2025.0 utilisateurs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Répartition du nombre d’abonnés par technologie </a:t>
                      </a:r>
                    </a:p>
                    <a:p>
                      <a:r>
                        <a:t>  </a:t>
                      </a:r>
                    </a:p>
                    <a:p>
                      <a:r>
                        <a:t>3ème trimestre 2025 </a:t>
                      </a:r>
                    </a:p>
                    <a:p>
                      <a:r>
                        <a:t>Abonnés de l...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4g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923.0 abonnés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Répartition du nombre d’abonnés par technologie </a:t>
                      </a:r>
                    </a:p>
                    <a:p>
                      <a:r>
                        <a:t>Nombre d’abonnés </a:t>
                      </a:r>
                    </a:p>
                    <a:p>
                      <a:r>
                        <a:t>3ème trimestre 202...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Abonnés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862.0 to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Volume du trafic Data consommé global et par type d’abonnés  </a:t>
                      </a:r>
                    </a:p>
                    <a:p>
                      <a:r>
                        <a:t>Volume Data global  </a:t>
                      </a:r>
                    </a:p>
                    <a:p>
                      <a:r>
                        <a:t>(E...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Abonnés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819.0 to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Répartition du nombre d’abonnés par technologie </a:t>
                      </a:r>
                    </a:p>
                    <a:p>
                      <a:r>
                        <a:t>  </a:t>
                      </a:r>
                    </a:p>
                    <a:p>
                      <a:r>
                        <a:t>3ème trimestre 2025 </a:t>
                      </a:r>
                    </a:p>
                    <a:p>
                      <a:r>
                        <a:t>Abonnés de l...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1 millions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630.0 millions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Volume de trafic Data consommé global </a:t>
                      </a:r>
                    </a:p>
                    <a:p>
                      <a:r>
                        <a:t> </a:t>
                      </a:r>
                    </a:p>
                    <a:p>
                      <a:r>
                        <a:t>3ème trimestre 2025 </a:t>
                      </a:r>
                    </a:p>
                    <a:p>
                      <a:r>
                        <a:t>Volume du trafic (Go) </a:t>
                      </a:r>
                    </a:p>
                    <a:p>
                      <a:r>
                        <a:t>...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xmlns:p="http://schemas.openxmlformats.org/officeDocument/2006/main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FFFFFF"/>
                </a:solidFill>
                <a:latin typeface="Arial"/>
              </a:rPr>
              <a:t>Dashboard Métriques - Page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Arial"/>
              </a:rPr>
              <a:t>Détails des Données (2)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82296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828800"/>
                <a:gridCol w="4114800"/>
              </a:tblGrid>
              <a:tr h="457200"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Métrique</a:t>
                      </a:r>
                    </a:p>
                  </a:txBody>
                  <a:tcPr>
                    <a:solidFill>
                      <a:srgbClr val="38BD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Valeur</a:t>
                      </a:r>
                    </a:p>
                  </a:txBody>
                  <a:tcPr>
                    <a:solidFill>
                      <a:srgbClr val="38BD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Observation</a:t>
                      </a:r>
                    </a:p>
                  </a:txBody>
                  <a:tcPr>
                    <a:solidFill>
                      <a:srgbClr val="38BD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Abonnés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622.0 to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Répartition par type d’abonnement </a:t>
                      </a:r>
                    </a:p>
                    <a:p>
                      <a:r>
                        <a:t>Répartition par type d’abonnement </a:t>
                      </a:r>
                    </a:p>
                    <a:p>
                      <a:r>
                        <a:t>3ème trimestre ...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Gb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390.0 gb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Bande passante consommée (Pic de consommation) </a:t>
                      </a:r>
                    </a:p>
                    <a:p>
                      <a:r>
                        <a:t> </a:t>
                      </a:r>
                    </a:p>
                    <a:p>
                      <a:r>
                        <a:t>  </a:t>
                      </a:r>
                    </a:p>
                    <a:p>
                      <a:r>
                        <a:t>2ème trimestre 2025 </a:t>
                      </a:r>
                    </a:p>
                    <a:p>
                      <a:r>
                        <a:t>3ème trimes...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1 millions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367.0 millions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Volume de trafic Data consommé global </a:t>
                      </a:r>
                    </a:p>
                    <a:p>
                      <a:r>
                        <a:t> </a:t>
                      </a:r>
                    </a:p>
                    <a:p>
                      <a:r>
                        <a:t>3ème trimestre 2025 </a:t>
                      </a:r>
                    </a:p>
                    <a:p>
                      <a:r>
                        <a:t>Volume du trafic (Go) </a:t>
                      </a:r>
                    </a:p>
                    <a:p>
                      <a:r>
                        <a:t>...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4g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347.0 abonnés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Répartition du nombre d’abonnés par technologie </a:t>
                      </a:r>
                    </a:p>
                    <a:p>
                      <a:r>
                        <a:t>Nombre d’abonnés </a:t>
                      </a:r>
                    </a:p>
                    <a:p>
                      <a:r>
                        <a:t>3ème trimestre 202...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4g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319.0 abonnés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Répartition du nombre d’abonnés par technologie </a:t>
                      </a:r>
                    </a:p>
                    <a:p>
                      <a:r>
                        <a:t>Nombre d’abonnés </a:t>
                      </a:r>
                    </a:p>
                    <a:p>
                      <a:r>
                        <a:t>3ème trimestre 202...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Abonnés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314.0 to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Répartition du nombre d’abonnés par technologie </a:t>
                      </a:r>
                    </a:p>
                    <a:p>
                      <a:r>
                        <a:t>Nombre d’abonnés </a:t>
                      </a:r>
                    </a:p>
                    <a:p>
                      <a:r>
                        <a:t>3ème trimestre 202...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4g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285.0 abonnés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Répartition du nombre d’abonnés par technologie </a:t>
                      </a:r>
                    </a:p>
                    <a:p>
                      <a:r>
                        <a:t>  </a:t>
                      </a:r>
                    </a:p>
                    <a:p>
                      <a:r>
                        <a:t>3ème trimestre 2025 </a:t>
                      </a:r>
                    </a:p>
                    <a:p>
                      <a:r>
                        <a:t>Abonnés de l...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Gb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260.0 gb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Bande passante consommée (Pic de consommation) </a:t>
                      </a:r>
                    </a:p>
                    <a:p>
                      <a:r>
                        <a:t> </a:t>
                      </a:r>
                    </a:p>
                    <a:p>
                      <a:r>
                        <a:t>  </a:t>
                      </a:r>
                    </a:p>
                    <a:p>
                      <a:r>
                        <a:t>2ème trimestre 2025 </a:t>
                      </a:r>
                    </a:p>
                    <a:p>
                      <a:r>
                        <a:t>3ème trimes...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4g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253.0 abonnés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Répartition du nombre d’abonnés par technologie </a:t>
                      </a:r>
                    </a:p>
                    <a:p>
                      <a:r>
                        <a:t>Nombre d’abonnés </a:t>
                      </a:r>
                    </a:p>
                    <a:p>
                      <a:r>
                        <a:t>3ème trimestre 202...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xmlns:p="http://schemas.openxmlformats.org/officeDocument/2006/main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FFFFFF"/>
                </a:solidFill>
                <a:latin typeface="Arial"/>
              </a:rPr>
              <a:t>Dashboard Métriques - Page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Arial"/>
              </a:rPr>
              <a:t>Détails des Données (3)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82296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828800"/>
                <a:gridCol w="4114800"/>
              </a:tblGrid>
              <a:tr h="457200"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Métrique</a:t>
                      </a:r>
                    </a:p>
                  </a:txBody>
                  <a:tcPr>
                    <a:solidFill>
                      <a:srgbClr val="38BD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Valeur</a:t>
                      </a:r>
                    </a:p>
                  </a:txBody>
                  <a:tcPr>
                    <a:solidFill>
                      <a:srgbClr val="38BD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Observation</a:t>
                      </a:r>
                    </a:p>
                  </a:txBody>
                  <a:tcPr>
                    <a:solidFill>
                      <a:srgbClr val="38BD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Internet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233.0 abonnés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Répartition du parc global par type d’accès </a:t>
                      </a:r>
                    </a:p>
                    <a:p>
                      <a:r>
                        <a:t>  </a:t>
                      </a:r>
                    </a:p>
                    <a:p>
                      <a:r>
                        <a:t>3ème trimestre 2025 </a:t>
                      </a:r>
                    </a:p>
                    <a:p>
                      <a:r>
                        <a:t>Abonnés Internet...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Internet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233.0 abonnés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Répartition par type d’abonné </a:t>
                      </a:r>
                    </a:p>
                    <a:p>
                      <a:r>
                        <a:t>Types d’abonnés </a:t>
                      </a:r>
                    </a:p>
                    <a:p>
                      <a:r>
                        <a:t>3ème trimestre 2025 </a:t>
                      </a:r>
                    </a:p>
                    <a:p>
                      <a:r>
                        <a:t>Abonnés aux offr...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Abonnés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183.0 to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Répartition par type d’abonné </a:t>
                      </a:r>
                    </a:p>
                    <a:p>
                      <a:r>
                        <a:t>Types d’abonnés </a:t>
                      </a:r>
                    </a:p>
                    <a:p>
                      <a:r>
                        <a:t>3ème trimestre 2025 </a:t>
                      </a:r>
                    </a:p>
                    <a:p>
                      <a:r>
                        <a:t>Abonnés aux offr...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4g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156.0 abonnés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Répartition du nombre d’abonnés par technologie </a:t>
                      </a:r>
                    </a:p>
                    <a:p>
                      <a:r>
                        <a:t>Nombre d’abonnés </a:t>
                      </a:r>
                    </a:p>
                    <a:p>
                      <a:r>
                        <a:t>3ème trimestre 202...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Internet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144.0 abonnés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Ce taux a enregistré une diminution de 0,42 point par rapport au deuxième trimestre d...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Abonnés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117.0 to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95,59%</a:t>
                      </a:r>
                    </a:p>
                    <a:p>
                      <a:r>
                        <a:t>4,41%</a:t>
                      </a:r>
                    </a:p>
                    <a:p>
                      <a:r>
                        <a:t>Répartition du parc global de l'internet mobile par type </a:t>
                      </a:r>
                    </a:p>
                    <a:p>
                      <a:r>
                        <a:t>d’abonnement (...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Abonnés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97.4 %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95,59%</a:t>
                      </a:r>
                    </a:p>
                    <a:p>
                      <a:r>
                        <a:t>4,41%</a:t>
                      </a:r>
                    </a:p>
                    <a:p>
                      <a:r>
                        <a:t>Répartition du parc global de l'internet mobile par type </a:t>
                      </a:r>
                    </a:p>
                    <a:p>
                      <a:r>
                        <a:t>d’abonnement (...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Internet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97.4 %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97,40%</a:t>
                      </a:r>
                    </a:p>
                    <a:p>
                      <a:r>
                        <a:t>2,60%</a:t>
                      </a:r>
                    </a:p>
                    <a:p>
                      <a:r>
                        <a:t>Répartition du parc global de l'internet mobile par type </a:t>
                      </a:r>
                    </a:p>
                    <a:p>
                      <a:r>
                        <a:t>d’abonnement (...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Abonnés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96.79 %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Répartition par type d’abonné </a:t>
                      </a:r>
                    </a:p>
                    <a:p>
                      <a:r>
                        <a:t>Types d’abonnés </a:t>
                      </a:r>
                    </a:p>
                    <a:p>
                      <a:r>
                        <a:t>3ème trimestre 2025 </a:t>
                      </a:r>
                    </a:p>
                    <a:p>
                      <a:r>
                        <a:t>Abonnés aux offr...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xmlns:p="http://schemas.openxmlformats.org/officeDocument/2006/main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FFFFFF"/>
                </a:solidFill>
                <a:latin typeface="Arial"/>
              </a:rPr>
              <a:t>Dashboard Métriques - Page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Arial"/>
              </a:rPr>
              <a:t>Détails des Données (4)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82296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828800"/>
                <a:gridCol w="4114800"/>
              </a:tblGrid>
              <a:tr h="457200"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Métrique</a:t>
                      </a:r>
                    </a:p>
                  </a:txBody>
                  <a:tcPr>
                    <a:solidFill>
                      <a:srgbClr val="38BD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Valeur</a:t>
                      </a:r>
                    </a:p>
                  </a:txBody>
                  <a:tcPr>
                    <a:solidFill>
                      <a:srgbClr val="38BD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Observation</a:t>
                      </a:r>
                    </a:p>
                  </a:txBody>
                  <a:tcPr>
                    <a:solidFill>
                      <a:srgbClr val="38BD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Abonnés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96.79 %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96,79%</a:t>
                      </a:r>
                    </a:p>
                    <a:p>
                      <a:r>
                        <a:t>3,21%</a:t>
                      </a:r>
                    </a:p>
                    <a:p>
                      <a:r>
                        <a:t>Répartition du parc global de l'internet fixe par type </a:t>
                      </a:r>
                    </a:p>
                    <a:p>
                      <a:r>
                        <a:t>d’abonné</a:t>
                      </a:r>
                    </a:p>
                    <a:p>
                      <a:r>
                        <a:t>Abonnés...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Abonnés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95.59 %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Répartition par type d’abonnement </a:t>
                      </a:r>
                    </a:p>
                    <a:p>
                      <a:r>
                        <a:t>Répartition par type d’abonnement </a:t>
                      </a:r>
                    </a:p>
                    <a:p>
                      <a:r>
                        <a:t>3ème trimestre ...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Abonnés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95.59 %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95,59%</a:t>
                      </a:r>
                    </a:p>
                    <a:p>
                      <a:r>
                        <a:t>4,41%</a:t>
                      </a:r>
                    </a:p>
                    <a:p>
                      <a:r>
                        <a:t>Répartition du parc global de l'internet mobile par type </a:t>
                      </a:r>
                    </a:p>
                    <a:p>
                      <a:r>
                        <a:t>d’abonnement (...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Abonnés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88.72 %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Répartition du parc global par type d’accès </a:t>
                      </a:r>
                    </a:p>
                    <a:p>
                      <a:r>
                        <a:t>  </a:t>
                      </a:r>
                    </a:p>
                    <a:p>
                      <a:r>
                        <a:t>3ème trimestre 2025 </a:t>
                      </a:r>
                    </a:p>
                    <a:p>
                      <a:r>
                        <a:t>Abonnés Internet...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Abonnés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88.72 %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Répartition du parc global par type d’accès </a:t>
                      </a:r>
                    </a:p>
                    <a:p>
                      <a:r>
                        <a:t>  </a:t>
                      </a:r>
                    </a:p>
                    <a:p>
                      <a:r>
                        <a:t>3ème trimestre 2025 </a:t>
                      </a:r>
                    </a:p>
                    <a:p>
                      <a:r>
                        <a:t>Abonnés Internet...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Abonnés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60.46 millions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Parc global des abonnés de l’Internet (fixe et mobile) </a:t>
                      </a:r>
                    </a:p>
                    <a:p>
                      <a:r>
                        <a:t> </a:t>
                      </a:r>
                    </a:p>
                    <a:p>
                      <a:r>
                        <a:t>3ème trimestre 2025 </a:t>
                      </a:r>
                    </a:p>
                    <a:p>
                      <a:r>
                        <a:t>Parc g...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Abonnés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57.14 %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Répartition du parc par débit  </a:t>
                      </a:r>
                    </a:p>
                    <a:p>
                      <a:r>
                        <a:t> </a:t>
                      </a:r>
                    </a:p>
                    <a:p>
                      <a:r>
                        <a:t>Abonnés ADSL/Fibre </a:t>
                      </a:r>
                    </a:p>
                    <a:p>
                      <a:r>
                        <a:t>3ème trimestre 2025 </a:t>
                      </a:r>
                    </a:p>
                    <a:p>
                      <a:r>
                        <a:t>10 Mbps ≤ ...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Abonnés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57.14 %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Répartition du parc par débit  </a:t>
                      </a:r>
                    </a:p>
                    <a:p>
                      <a:r>
                        <a:t> </a:t>
                      </a:r>
                    </a:p>
                    <a:p>
                      <a:r>
                        <a:t>Abonnés ADSL/Fibre </a:t>
                      </a:r>
                    </a:p>
                    <a:p>
                      <a:r>
                        <a:t>3ème trimestre 2025 </a:t>
                      </a:r>
                    </a:p>
                    <a:p>
                      <a:r>
                        <a:t>10 Mbps ≤ ...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Abonnés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53.636 millions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Répartition par type d’abonnement </a:t>
                      </a:r>
                    </a:p>
                    <a:p>
                      <a:r>
                        <a:t>Répartition par type d’abonnement </a:t>
                      </a:r>
                    </a:p>
                    <a:p>
                      <a:r>
                        <a:t>3ème trimestre ...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xmlns:p="http://schemas.openxmlformats.org/officeDocument/2006/main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FFFFFF"/>
                </a:solidFill>
                <a:latin typeface="Arial"/>
              </a:rPr>
              <a:t>Dashboard Métriques - Page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Arial"/>
              </a:rPr>
              <a:t>Détails des Données (5)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82296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828800"/>
                <a:gridCol w="4114800"/>
              </a:tblGrid>
              <a:tr h="457200"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Métrique</a:t>
                      </a:r>
                    </a:p>
                  </a:txBody>
                  <a:tcPr>
                    <a:solidFill>
                      <a:srgbClr val="38BD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Valeur</a:t>
                      </a:r>
                    </a:p>
                  </a:txBody>
                  <a:tcPr>
                    <a:solidFill>
                      <a:srgbClr val="38BD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Observation</a:t>
                      </a:r>
                    </a:p>
                  </a:txBody>
                  <a:tcPr>
                    <a:solidFill>
                      <a:srgbClr val="38BD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Abonnés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53.636 millions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95,59%</a:t>
                      </a:r>
                    </a:p>
                    <a:p>
                      <a:r>
                        <a:t>4,41%</a:t>
                      </a:r>
                    </a:p>
                    <a:p>
                      <a:r>
                        <a:t>Répartition du parc global de l'internet mobile par type </a:t>
                      </a:r>
                    </a:p>
                    <a:p>
                      <a:r>
                        <a:t>d’abonnement (...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Internet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50.0 abonnés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Répartition par type d’abonné </a:t>
                      </a:r>
                    </a:p>
                    <a:p>
                      <a:r>
                        <a:t>Types d’abonnés </a:t>
                      </a:r>
                    </a:p>
                    <a:p>
                      <a:r>
                        <a:t>3ème trimestre 2025 </a:t>
                      </a:r>
                    </a:p>
                    <a:p>
                      <a:r>
                        <a:t>Abonnés aux offr...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Abonnés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37.62 %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32,33%</a:t>
                      </a:r>
                    </a:p>
                    <a:p>
                      <a:r>
                        <a:t>29,99%</a:t>
                      </a:r>
                    </a:p>
                    <a:p>
                      <a:r>
                        <a:t>37,62%</a:t>
                      </a:r>
                    </a:p>
                    <a:p>
                      <a:r>
                        <a:t>0,06%</a:t>
                      </a:r>
                    </a:p>
                    <a:p>
                      <a:r>
                        <a:t>Répartition du parc global des abonnés internet par type </a:t>
                      </a:r>
                    </a:p>
                    <a:p>
                      <a:r>
                        <a:t>...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Valeur (millions)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32.55 %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Évolution du Volume de trafic Data fixe global consommé </a:t>
                      </a:r>
                    </a:p>
                    <a:p>
                      <a:r>
                        <a:t>En millions de Go T3-2024 </a:t>
                      </a:r>
                    </a:p>
                    <a:p>
                      <a:r>
                        <a:t>T...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Abonnés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32.33 %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32,33%</a:t>
                      </a:r>
                    </a:p>
                    <a:p>
                      <a:r>
                        <a:t>29,99%</a:t>
                      </a:r>
                    </a:p>
                    <a:p>
                      <a:r>
                        <a:t>37,62%</a:t>
                      </a:r>
                    </a:p>
                    <a:p>
                      <a:r>
                        <a:t>0,06%</a:t>
                      </a:r>
                    </a:p>
                    <a:p>
                      <a:r>
                        <a:t>Répartition du parc global des abonnés internet par type </a:t>
                      </a:r>
                    </a:p>
                    <a:p>
                      <a:r>
                        <a:t>...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Abonnés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29.99 %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32,33%</a:t>
                      </a:r>
                    </a:p>
                    <a:p>
                      <a:r>
                        <a:t>29,99%</a:t>
                      </a:r>
                    </a:p>
                    <a:p>
                      <a:r>
                        <a:t>37,62%</a:t>
                      </a:r>
                    </a:p>
                    <a:p>
                      <a:r>
                        <a:t>0,06%</a:t>
                      </a:r>
                    </a:p>
                    <a:p>
                      <a:r>
                        <a:t>Répartition du parc global des abonnés internet par type </a:t>
                      </a:r>
                    </a:p>
                    <a:p>
                      <a:r>
                        <a:t>...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Valeur (millions)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23.16 %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Évolution du Volume de trafic Data mobile consommé  </a:t>
                      </a:r>
                    </a:p>
                    <a:p>
                      <a:r>
                        <a:t>En millions de Go </a:t>
                      </a:r>
                    </a:p>
                    <a:p>
                      <a:r>
                        <a:t>T3-2024 </a:t>
                      </a:r>
                    </a:p>
                    <a:p>
                      <a:r>
                        <a:t>T4-2...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Abonnés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18.2 %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Répartition du parc par débit  </a:t>
                      </a:r>
                    </a:p>
                    <a:p>
                      <a:r>
                        <a:t> </a:t>
                      </a:r>
                    </a:p>
                    <a:p>
                      <a:r>
                        <a:t>Abonnés ADSL/Fibre </a:t>
                      </a:r>
                    </a:p>
                    <a:p>
                      <a:r>
                        <a:t>3ème trimestre 2025 </a:t>
                      </a:r>
                    </a:p>
                    <a:p>
                      <a:r>
                        <a:t>10 Mbps ≤ ...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Abonnés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18.2 %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Répartition du parc par débit  </a:t>
                      </a:r>
                    </a:p>
                    <a:p>
                      <a:r>
                        <a:t> </a:t>
                      </a:r>
                    </a:p>
                    <a:p>
                      <a:r>
                        <a:t>Abonnés ADSL/Fibre </a:t>
                      </a:r>
                    </a:p>
                    <a:p>
                      <a:r>
                        <a:t>3ème trimestre 2025 </a:t>
                      </a:r>
                    </a:p>
                    <a:p>
                      <a:r>
                        <a:t>10 Mbps ≤ ...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xmlns:p="http://schemas.openxmlformats.org/officeDocument/2006/main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FFFFFF"/>
                </a:solidFill>
                <a:latin typeface="Arial"/>
              </a:rPr>
              <a:t>Dashboard Métriques - Page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Arial"/>
              </a:rPr>
              <a:t>Détails des Données (6)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82296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828800"/>
                <a:gridCol w="4114800"/>
              </a:tblGrid>
              <a:tr h="457200"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Métrique</a:t>
                      </a:r>
                    </a:p>
                  </a:txBody>
                  <a:tcPr>
                    <a:solidFill>
                      <a:srgbClr val="38BD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Valeur</a:t>
                      </a:r>
                    </a:p>
                  </a:txBody>
                  <a:tcPr>
                    <a:solidFill>
                      <a:srgbClr val="38BD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Observation</a:t>
                      </a:r>
                    </a:p>
                  </a:txBody>
                  <a:tcPr>
                    <a:solidFill>
                      <a:srgbClr val="38BD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Valeur (%)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16.17 %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Évolution du trafic mensuel moyen de la Data consommée par abonné </a:t>
                      </a:r>
                    </a:p>
                    <a:p>
                      <a:r>
                        <a:t>En Go </a:t>
                      </a:r>
                    </a:p>
                    <a:p>
                      <a:r>
                        <a:t>T3-2024 </a:t>
                      </a:r>
                    </a:p>
                    <a:p>
                      <a:r>
                        <a:t>T4...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Hausse millions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15.4 %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Évolution du marché de l’Internet de téléphonie fixe </a:t>
                      </a:r>
                    </a:p>
                    <a:p>
                      <a:r>
                        <a:t>En millions </a:t>
                      </a:r>
                    </a:p>
                    <a:p>
                      <a:r>
                        <a:t>T3-2024 </a:t>
                      </a:r>
                    </a:p>
                    <a:p>
                      <a:r>
                        <a:t>T4-2024 </a:t>
                      </a:r>
                    </a:p>
                    <a:p>
                      <a:r>
                        <a:t>...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Hausse millions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15.4 %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Évolution du marché de l’Internet de téléphonie fixe </a:t>
                      </a:r>
                    </a:p>
                    <a:p>
                      <a:r>
                        <a:t>En millions </a:t>
                      </a:r>
                    </a:p>
                    <a:p>
                      <a:r>
                        <a:t>T3-2024 </a:t>
                      </a:r>
                    </a:p>
                    <a:p>
                      <a:r>
                        <a:t>T4-2024 </a:t>
                      </a:r>
                    </a:p>
                    <a:p>
                      <a:r>
                        <a:t>...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Abonnés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11.28 %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Répartition du parc global par type d’accès </a:t>
                      </a:r>
                    </a:p>
                    <a:p>
                      <a:r>
                        <a:t>  </a:t>
                      </a:r>
                    </a:p>
                    <a:p>
                      <a:r>
                        <a:t>3ème trimestre 2025 </a:t>
                      </a:r>
                    </a:p>
                    <a:p>
                      <a:r>
                        <a:t>Abonnés Internet...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Abonnés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11.28 %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Répartition du parc global par type d’accès </a:t>
                      </a:r>
                    </a:p>
                    <a:p>
                      <a:r>
                        <a:t>  </a:t>
                      </a:r>
                    </a:p>
                    <a:p>
                      <a:r>
                        <a:t>3ème trimestre 2025 </a:t>
                      </a:r>
                    </a:p>
                    <a:p>
                      <a:r>
                        <a:t>Abonnés Internet...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Abonnés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11.17 %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Répartition du parc par débit  </a:t>
                      </a:r>
                    </a:p>
                    <a:p>
                      <a:r>
                        <a:t> </a:t>
                      </a:r>
                    </a:p>
                    <a:p>
                      <a:r>
                        <a:t>Abonnés ADSL/Fibre </a:t>
                      </a:r>
                    </a:p>
                    <a:p>
                      <a:r>
                        <a:t>3ème trimestre 2025 </a:t>
                      </a:r>
                    </a:p>
                    <a:p>
                      <a:r>
                        <a:t>10 Mbps ≤ ...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Abonnés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11.17 %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Répartition du parc par débit  </a:t>
                      </a:r>
                    </a:p>
                    <a:p>
                      <a:r>
                        <a:t> </a:t>
                      </a:r>
                    </a:p>
                    <a:p>
                      <a:r>
                        <a:t>Abonnés ADSL/Fibre </a:t>
                      </a:r>
                    </a:p>
                    <a:p>
                      <a:r>
                        <a:t>3ème trimestre 2025 </a:t>
                      </a:r>
                    </a:p>
                    <a:p>
                      <a:r>
                        <a:t>10 Mbps ≤ ...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Abonnés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9.88 %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Volume du trafic Data consommé global et par type d’abonnés  </a:t>
                      </a:r>
                    </a:p>
                    <a:p>
                      <a:r>
                        <a:t>Volume Data global  </a:t>
                      </a:r>
                    </a:p>
                    <a:p>
                      <a:r>
                        <a:t>(E...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Augmentation millions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9.49 %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Volume de trafic Data consommé global </a:t>
                      </a:r>
                    </a:p>
                    <a:p>
                      <a:r>
                        <a:t> </a:t>
                      </a:r>
                    </a:p>
                    <a:p>
                      <a:r>
                        <a:t>3ème trimestre 2025 </a:t>
                      </a:r>
                    </a:p>
                    <a:p>
                      <a:r>
                        <a:t>Volume du trafic (Go) </a:t>
                      </a:r>
                    </a:p>
                    <a:p>
                      <a:r>
                        <a:t>...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xmlns:p="http://schemas.openxmlformats.org/officeDocument/2006/main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FFFFFF"/>
                </a:solidFill>
                <a:latin typeface="Arial"/>
              </a:rPr>
              <a:t>Dashboard Métriques - Page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Arial"/>
              </a:rPr>
              <a:t>Détails des Données (7)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82296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828800"/>
                <a:gridCol w="4114800"/>
              </a:tblGrid>
              <a:tr h="457200"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Métrique</a:t>
                      </a:r>
                    </a:p>
                  </a:txBody>
                  <a:tcPr>
                    <a:solidFill>
                      <a:srgbClr val="38BD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Valeur</a:t>
                      </a:r>
                    </a:p>
                  </a:txBody>
                  <a:tcPr>
                    <a:solidFill>
                      <a:srgbClr val="38BD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Observation</a:t>
                      </a:r>
                    </a:p>
                  </a:txBody>
                  <a:tcPr>
                    <a:solidFill>
                      <a:srgbClr val="38BD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Abonnés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9.05 %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Répartition du parc par débit  </a:t>
                      </a:r>
                    </a:p>
                    <a:p>
                      <a:r>
                        <a:t> </a:t>
                      </a:r>
                    </a:p>
                    <a:p>
                      <a:r>
                        <a:t>Abonnés ADSL/Fibre </a:t>
                      </a:r>
                    </a:p>
                    <a:p>
                      <a:r>
                        <a:t>3ème trimestre 2025 </a:t>
                      </a:r>
                    </a:p>
                    <a:p>
                      <a:r>
                        <a:t>10 Mbps ≤ ...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Abonnés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9.05 %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Répartition du parc par débit  </a:t>
                      </a:r>
                    </a:p>
                    <a:p>
                      <a:r>
                        <a:t> </a:t>
                      </a:r>
                    </a:p>
                    <a:p>
                      <a:r>
                        <a:t>Abonnés ADSL/Fibre </a:t>
                      </a:r>
                    </a:p>
                    <a:p>
                      <a:r>
                        <a:t>3ème trimestre 2025 </a:t>
                      </a:r>
                    </a:p>
                    <a:p>
                      <a:r>
                        <a:t>10 Mbps ≤ ...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Abonnés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9.01 %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Répartition du nombre d’abonnés par technologie </a:t>
                      </a:r>
                    </a:p>
                    <a:p>
                      <a:r>
                        <a:t>Nombre d’abonnés </a:t>
                      </a:r>
                    </a:p>
                    <a:p>
                      <a:r>
                        <a:t>3ème trimestre 202...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Abonnés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8.58 to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Volume du trafic Data consommé global et par type d’abonnés  </a:t>
                      </a:r>
                    </a:p>
                    <a:p>
                      <a:r>
                        <a:t>Volume Data global  </a:t>
                      </a:r>
                    </a:p>
                    <a:p>
                      <a:r>
                        <a:t>(E...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Abonnés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7.07 %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Évolution du parc global des abonnés de l’Internet (fixe et mobile) </a:t>
                      </a:r>
                    </a:p>
                    <a:p>
                      <a:r>
                        <a:t>En millions </a:t>
                      </a:r>
                    </a:p>
                    <a:p>
                      <a:r>
                        <a:t>T3-...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Abonnés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5.95 %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Évolution du marché de l’Internet de téléphonie mobile </a:t>
                      </a:r>
                    </a:p>
                    <a:p>
                      <a:r>
                        <a:t>En millions </a:t>
                      </a:r>
                    </a:p>
                    <a:p>
                      <a:r>
                        <a:t>T3-2024 </a:t>
                      </a:r>
                    </a:p>
                    <a:p>
                      <a:r>
                        <a:t>T4-2024...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Abonnés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5.95 %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Évolution du marché de l’Internet de téléphonie mobile </a:t>
                      </a:r>
                    </a:p>
                    <a:p>
                      <a:r>
                        <a:t>En millions </a:t>
                      </a:r>
                    </a:p>
                    <a:p>
                      <a:r>
                        <a:t>T3-2024 </a:t>
                      </a:r>
                    </a:p>
                    <a:p>
                      <a:r>
                        <a:t>T4-2024...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Abonnés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4.43 %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Répartition du parc par débit  </a:t>
                      </a:r>
                    </a:p>
                    <a:p>
                      <a:r>
                        <a:t> </a:t>
                      </a:r>
                    </a:p>
                    <a:p>
                      <a:r>
                        <a:t>Abonnés ADSL/Fibre </a:t>
                      </a:r>
                    </a:p>
                    <a:p>
                      <a:r>
                        <a:t>3ème trimestre 2025 </a:t>
                      </a:r>
                    </a:p>
                    <a:p>
                      <a:r>
                        <a:t>10 Mbps ≤ ...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Abonnés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4.43 %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Répartition du parc par débit  </a:t>
                      </a:r>
                    </a:p>
                    <a:p>
                      <a:r>
                        <a:t> </a:t>
                      </a:r>
                    </a:p>
                    <a:p>
                      <a:r>
                        <a:t>Abonnés ADSL/Fibre </a:t>
                      </a:r>
                    </a:p>
                    <a:p>
                      <a:r>
                        <a:t>3ème trimestre 2025 </a:t>
                      </a:r>
                    </a:p>
                    <a:p>
                      <a:r>
                        <a:t>10 Mbps ≤ ...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xmlns:p="http://schemas.openxmlformats.org/officeDocument/2006/main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FFFFFF"/>
                </a:solidFill>
                <a:latin typeface="Arial"/>
              </a:rPr>
              <a:t>Dashboard Métriques - Page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Arial"/>
              </a:rPr>
              <a:t>Détails des Données (8)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82296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828800"/>
                <a:gridCol w="4114800"/>
              </a:tblGrid>
              <a:tr h="457200"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Métrique</a:t>
                      </a:r>
                    </a:p>
                  </a:txBody>
                  <a:tcPr>
                    <a:solidFill>
                      <a:srgbClr val="38BD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Valeur</a:t>
                      </a:r>
                    </a:p>
                  </a:txBody>
                  <a:tcPr>
                    <a:solidFill>
                      <a:srgbClr val="38BD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Observation</a:t>
                      </a:r>
                    </a:p>
                  </a:txBody>
                  <a:tcPr>
                    <a:solidFill>
                      <a:srgbClr val="38BD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Abonnés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4.41 %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Répartition par type d’abonnement </a:t>
                      </a:r>
                    </a:p>
                    <a:p>
                      <a:r>
                        <a:t>Répartition par type d’abonnement </a:t>
                      </a:r>
                    </a:p>
                    <a:p>
                      <a:r>
                        <a:t>3ème trimestre ...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Abonnés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4.41 %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95,59%</a:t>
                      </a:r>
                    </a:p>
                    <a:p>
                      <a:r>
                        <a:t>4,41%</a:t>
                      </a:r>
                    </a:p>
                    <a:p>
                      <a:r>
                        <a:t>Répartition du parc global de l'internet mobile par type </a:t>
                      </a:r>
                    </a:p>
                    <a:p>
                      <a:r>
                        <a:t>d’abonnement (...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Abonnés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3.31 %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Répartition du nombre d’abonnés par technologie </a:t>
                      </a:r>
                    </a:p>
                    <a:p>
                      <a:r>
                        <a:t>  </a:t>
                      </a:r>
                    </a:p>
                    <a:p>
                      <a:r>
                        <a:t>3ème trimestre 2025 </a:t>
                      </a:r>
                    </a:p>
                    <a:p>
                      <a:r>
                        <a:t>Abonnés de l...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Abonnés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3.21 %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Répartition par type d’abonné </a:t>
                      </a:r>
                    </a:p>
                    <a:p>
                      <a:r>
                        <a:t>Types d’abonnés </a:t>
                      </a:r>
                    </a:p>
                    <a:p>
                      <a:r>
                        <a:t>3ème trimestre 2025 </a:t>
                      </a:r>
                    </a:p>
                    <a:p>
                      <a:r>
                        <a:t>Abonnés aux offr...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Abonnés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3.21 %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96,79%</a:t>
                      </a:r>
                    </a:p>
                    <a:p>
                      <a:r>
                        <a:t>3,21%</a:t>
                      </a:r>
                    </a:p>
                    <a:p>
                      <a:r>
                        <a:t>Répartition du parc global de l'internet fixe par type </a:t>
                      </a:r>
                    </a:p>
                    <a:p>
                      <a:r>
                        <a:t>d’abonné</a:t>
                      </a:r>
                    </a:p>
                    <a:p>
                      <a:r>
                        <a:t>Abonnés...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Abonnés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3.04 %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Répartition du nombre d’abonnés par technologie </a:t>
                      </a:r>
                    </a:p>
                    <a:p>
                      <a:r>
                        <a:t>  </a:t>
                      </a:r>
                    </a:p>
                    <a:p>
                      <a:r>
                        <a:t>3ème trimestre 2025 </a:t>
                      </a:r>
                    </a:p>
                    <a:p>
                      <a:r>
                        <a:t>Abonnés de l...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Abonnés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2.93 %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Répartition du nombre d’abonnés par technologie </a:t>
                      </a:r>
                    </a:p>
                    <a:p>
                      <a:r>
                        <a:t>  </a:t>
                      </a:r>
                    </a:p>
                    <a:p>
                      <a:r>
                        <a:t>3ème trimestre 2025 </a:t>
                      </a:r>
                    </a:p>
                    <a:p>
                      <a:r>
                        <a:t>Abonnés de l...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Abonnés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2.67 %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Volume du trafic Data consommé global et par type d’abonnés  </a:t>
                      </a:r>
                    </a:p>
                    <a:p>
                      <a:r>
                        <a:t>Volume Data global  </a:t>
                      </a:r>
                    </a:p>
                    <a:p>
                      <a:r>
                        <a:t>(E...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Abonnés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2.6 %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95,59%</a:t>
                      </a:r>
                    </a:p>
                    <a:p>
                      <a:r>
                        <a:t>4,41%</a:t>
                      </a:r>
                    </a:p>
                    <a:p>
                      <a:r>
                        <a:t>Répartition du parc global de l'internet mobile par type </a:t>
                      </a:r>
                    </a:p>
                    <a:p>
                      <a:r>
                        <a:t>d’abonnement (...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xmlns:p="http://schemas.openxmlformats.org/officeDocument/2006/main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FFFFFF"/>
                </a:solidFill>
                <a:latin typeface="Arial"/>
              </a:rPr>
              <a:t>Dashboard Métriques - Page 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Arial"/>
              </a:rPr>
              <a:t>Détails des Données (9)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82296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828800"/>
                <a:gridCol w="4114800"/>
              </a:tblGrid>
              <a:tr h="571500"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Métrique</a:t>
                      </a:r>
                    </a:p>
                  </a:txBody>
                  <a:tcPr>
                    <a:solidFill>
                      <a:srgbClr val="38BD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Valeur</a:t>
                      </a:r>
                    </a:p>
                  </a:txBody>
                  <a:tcPr>
                    <a:solidFill>
                      <a:srgbClr val="38BD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Observation</a:t>
                      </a:r>
                    </a:p>
                  </a:txBody>
                  <a:tcPr>
                    <a:solidFill>
                      <a:srgbClr val="38BDF8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Internet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2.6 %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97,40%</a:t>
                      </a:r>
                    </a:p>
                    <a:p>
                      <a:r>
                        <a:t>2,60%</a:t>
                      </a:r>
                    </a:p>
                    <a:p>
                      <a:r>
                        <a:t>Répartition du parc global de l'internet mobile par type </a:t>
                      </a:r>
                    </a:p>
                    <a:p>
                      <a:r>
                        <a:t>d’abonnement (...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Abonnés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2.44 %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56,54</a:t>
                      </a:r>
                    </a:p>
                    <a:p>
                      <a:r>
                        <a:t>57,54</a:t>
                      </a:r>
                    </a:p>
                    <a:p>
                      <a:r>
                        <a:t>58,14</a:t>
                      </a:r>
                    </a:p>
                    <a:p>
                      <a:r>
                        <a:t>59,1</a:t>
                      </a:r>
                    </a:p>
                    <a:p>
                      <a:r>
                        <a:t>60,54</a:t>
                      </a:r>
                    </a:p>
                    <a:p>
                      <a:r>
                        <a:t>0</a:t>
                      </a:r>
                    </a:p>
                    <a:p>
                      <a:r>
                        <a:t>10</a:t>
                      </a:r>
                    </a:p>
                    <a:p>
                      <a:r>
                        <a:t>20</a:t>
                      </a:r>
                    </a:p>
                    <a:p>
                      <a:r>
                        <a:t>30</a:t>
                      </a:r>
                    </a:p>
                    <a:p>
                      <a:r>
                        <a:t>40</a:t>
                      </a:r>
                    </a:p>
                    <a:p>
                      <a:r>
                        <a:t>50</a:t>
                      </a:r>
                    </a:p>
                    <a:p>
                      <a:r>
                        <a:t>60</a:t>
                      </a:r>
                    </a:p>
                    <a:p>
                      <a:r>
                        <a:t>70</a:t>
                      </a:r>
                    </a:p>
                    <a:p>
                      <a:r>
                        <a:t>T3-2024</a:t>
                      </a:r>
                    </a:p>
                    <a:p>
                      <a:r>
                        <a:t>T4-2024</a:t>
                      </a:r>
                    </a:p>
                    <a:p>
                      <a:r>
                        <a:t>T1-2025</a:t>
                      </a:r>
                    </a:p>
                    <a:p>
                      <a:r>
                        <a:t>T2-2025</a:t>
                      </a:r>
                    </a:p>
                    <a:p>
                      <a:r>
                        <a:t>T...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Abonnés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1.77 %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56,54</a:t>
                      </a:r>
                    </a:p>
                    <a:p>
                      <a:r>
                        <a:t>57,54</a:t>
                      </a:r>
                    </a:p>
                    <a:p>
                      <a:r>
                        <a:t>58,14</a:t>
                      </a:r>
                    </a:p>
                    <a:p>
                      <a:r>
                        <a:t>59,1</a:t>
                      </a:r>
                    </a:p>
                    <a:p>
                      <a:r>
                        <a:t>60,54</a:t>
                      </a:r>
                    </a:p>
                    <a:p>
                      <a:r>
                        <a:t>0</a:t>
                      </a:r>
                    </a:p>
                    <a:p>
                      <a:r>
                        <a:t>10</a:t>
                      </a:r>
                    </a:p>
                    <a:p>
                      <a:r>
                        <a:t>20</a:t>
                      </a:r>
                    </a:p>
                    <a:p>
                      <a:r>
                        <a:t>30</a:t>
                      </a:r>
                    </a:p>
                    <a:p>
                      <a:r>
                        <a:t>40</a:t>
                      </a:r>
                    </a:p>
                    <a:p>
                      <a:r>
                        <a:t>50</a:t>
                      </a:r>
                    </a:p>
                    <a:p>
                      <a:r>
                        <a:t>60</a:t>
                      </a:r>
                    </a:p>
                    <a:p>
                      <a:r>
                        <a:t>70</a:t>
                      </a:r>
                    </a:p>
                    <a:p>
                      <a:r>
                        <a:t>T3-2024</a:t>
                      </a:r>
                    </a:p>
                    <a:p>
                      <a:r>
                        <a:t>T4-2024</a:t>
                      </a:r>
                    </a:p>
                    <a:p>
                      <a:r>
                        <a:t>T1-2025</a:t>
                      </a:r>
                    </a:p>
                    <a:p>
                      <a:r>
                        <a:t>T2-2025</a:t>
                      </a:r>
                    </a:p>
                    <a:p>
                      <a:r>
                        <a:t>T...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Abonnés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1.65 %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56,54</a:t>
                      </a:r>
                    </a:p>
                    <a:p>
                      <a:r>
                        <a:t>57,54</a:t>
                      </a:r>
                    </a:p>
                    <a:p>
                      <a:r>
                        <a:t>58,14</a:t>
                      </a:r>
                    </a:p>
                    <a:p>
                      <a:r>
                        <a:t>59,1</a:t>
                      </a:r>
                    </a:p>
                    <a:p>
                      <a:r>
                        <a:t>60,54</a:t>
                      </a:r>
                    </a:p>
                    <a:p>
                      <a:r>
                        <a:t>0</a:t>
                      </a:r>
                    </a:p>
                    <a:p>
                      <a:r>
                        <a:t>10</a:t>
                      </a:r>
                    </a:p>
                    <a:p>
                      <a:r>
                        <a:t>20</a:t>
                      </a:r>
                    </a:p>
                    <a:p>
                      <a:r>
                        <a:t>30</a:t>
                      </a:r>
                    </a:p>
                    <a:p>
                      <a:r>
                        <a:t>40</a:t>
                      </a:r>
                    </a:p>
                    <a:p>
                      <a:r>
                        <a:t>50</a:t>
                      </a:r>
                    </a:p>
                    <a:p>
                      <a:r>
                        <a:t>60</a:t>
                      </a:r>
                    </a:p>
                    <a:p>
                      <a:r>
                        <a:t>70</a:t>
                      </a:r>
                    </a:p>
                    <a:p>
                      <a:r>
                        <a:t>T3-2024</a:t>
                      </a:r>
                    </a:p>
                    <a:p>
                      <a:r>
                        <a:t>T4-2024</a:t>
                      </a:r>
                    </a:p>
                    <a:p>
                      <a:r>
                        <a:t>T1-2025</a:t>
                      </a:r>
                    </a:p>
                    <a:p>
                      <a:r>
                        <a:t>T2-2025</a:t>
                      </a:r>
                    </a:p>
                    <a:p>
                      <a:r>
                        <a:t>T...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Abonnés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1.04 %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56,54</a:t>
                      </a:r>
                    </a:p>
                    <a:p>
                      <a:r>
                        <a:t>57,54</a:t>
                      </a:r>
                    </a:p>
                    <a:p>
                      <a:r>
                        <a:t>58,14</a:t>
                      </a:r>
                    </a:p>
                    <a:p>
                      <a:r>
                        <a:t>59,1</a:t>
                      </a:r>
                    </a:p>
                    <a:p>
                      <a:r>
                        <a:t>60,54</a:t>
                      </a:r>
                    </a:p>
                    <a:p>
                      <a:r>
                        <a:t>0</a:t>
                      </a:r>
                    </a:p>
                    <a:p>
                      <a:r>
                        <a:t>10</a:t>
                      </a:r>
                    </a:p>
                    <a:p>
                      <a:r>
                        <a:t>20</a:t>
                      </a:r>
                    </a:p>
                    <a:p>
                      <a:r>
                        <a:t>30</a:t>
                      </a:r>
                    </a:p>
                    <a:p>
                      <a:r>
                        <a:t>40</a:t>
                      </a:r>
                    </a:p>
                    <a:p>
                      <a:r>
                        <a:t>50</a:t>
                      </a:r>
                    </a:p>
                    <a:p>
                      <a:r>
                        <a:t>60</a:t>
                      </a:r>
                    </a:p>
                    <a:p>
                      <a:r>
                        <a:t>70</a:t>
                      </a:r>
                    </a:p>
                    <a:p>
                      <a:r>
                        <a:t>T3-2024</a:t>
                      </a:r>
                    </a:p>
                    <a:p>
                      <a:r>
                        <a:t>T4-2024</a:t>
                      </a:r>
                    </a:p>
                    <a:p>
                      <a:r>
                        <a:t>T1-2025</a:t>
                      </a:r>
                    </a:p>
                    <a:p>
                      <a:r>
                        <a:t>T2-2025</a:t>
                      </a:r>
                    </a:p>
                    <a:p>
                      <a:r>
                        <a:t>T...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Abonnés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0.06 %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32,33%</a:t>
                      </a:r>
                    </a:p>
                    <a:p>
                      <a:r>
                        <a:t>29,99%</a:t>
                      </a:r>
                    </a:p>
                    <a:p>
                      <a:r>
                        <a:t>37,62%</a:t>
                      </a:r>
                    </a:p>
                    <a:p>
                      <a:r>
                        <a:t>0,06%</a:t>
                      </a:r>
                    </a:p>
                    <a:p>
                      <a:r>
                        <a:t>Répartition du parc global des abonnés internet par type </a:t>
                      </a:r>
                    </a:p>
                    <a:p>
                      <a:r>
                        <a:t>...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4g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0.0 abonnés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Répartition du nombre d’abonnés par technologie </a:t>
                      </a:r>
                    </a:p>
                    <a:p>
                      <a:r>
                        <a:t>  </a:t>
                      </a:r>
                    </a:p>
                    <a:p>
                      <a:r>
                        <a:t>3ème trimestre 2025 </a:t>
                      </a:r>
                    </a:p>
                    <a:p>
                      <a:r>
                        <a:t>Abonnés de l...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xmlns:p="http://schemas.openxmlformats.org/officeDocument/2006/main">
    <p:fad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FFFFFF"/>
                </a:solidFill>
                <a:latin typeface="Arial"/>
              </a:rPr>
              <a:t>Visualisation des Données Clés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analyse_da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7315200" cy="4074289"/>
          </a:xfrm>
          <a:prstGeom prst="rect">
            <a:avLst/>
          </a:prstGeom>
          <a:ln w="25400">
            <a:solidFill>
              <a:srgbClr val="38BDF8"/>
            </a:solidFill>
          </a:ln>
        </p:spPr>
      </p:pic>
    </p:spTree>
  </p:cSld>
  <p:clrMapOvr>
    <a:masterClrMapping/>
  </p:clrMapOvr>
  <p:transition xmlns:p="http://schemas.openxmlformats.org/officeDocument/2006/main">
    <p:fade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FFFFFF"/>
                </a:solidFill>
                <a:latin typeface="Arial"/>
              </a:rPr>
              <a:t>Analyse Détaillée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ln w="25400">
            <a:solidFill>
              <a:srgbClr val="38BDF8"/>
            </a:solidFill>
          </a:ln>
        </p:spPr>
        <p:txBody>
          <a:bodyPr/>
          <a:lstStyle/>
          <a:p/>
          <a:p>
            <a:pPr>
              <a:defRPr sz="1600">
                <a:solidFill>
                  <a:srgbClr val="38BDF8"/>
                </a:solidFill>
              </a:defRPr>
            </a:pPr>
            <a:r>
              <a:t>➤ 0 </a:t>
            </a:r>
            <a:br/>
            <a:r>
              <a:t>ARPCE/Observatoire du marché de l’Internet en Algérie T2-2023 </a:t>
            </a:r>
            <a:br/>
            <a:r>
              <a:t> </a:t>
            </a:r>
            <a:br/>
            <a:r>
              <a:t> </a:t>
            </a:r>
            <a:br/>
            <a:r>
              <a:t> </a:t>
            </a:r>
            <a:br/>
            <a:r>
              <a:t> </a:t>
            </a:r>
            <a:br/>
            <a:r>
              <a:t> </a:t>
            </a:r>
            <a:br/>
            <a:r>
              <a:t>REPUBLIQUE ALGERIENNE DEMOCRATIQUE ET POPULAIRE </a:t>
            </a:r>
            <a:br/>
            <a:r>
              <a:t>AUTORITÉ DE RÉGULATION DE...</a:t>
            </a:r>
          </a:p>
          <a:p>
            <a:pPr>
              <a:defRPr sz="1600">
                <a:solidFill>
                  <a:srgbClr val="38BDF8"/>
                </a:solidFill>
              </a:defRPr>
            </a:pPr>
            <a:r>
              <a:t>➤ PARC GLOBAL DES ABONNES DE L’INTERNET (FIXE ET MOBILE) .............................. 1 </a:t>
            </a:r>
            <a:br/>
            <a:r>
              <a:t>1.2....</a:t>
            </a:r>
          </a:p>
          <a:p>
            <a:pPr>
              <a:defRPr sz="1600">
                <a:solidFill>
                  <a:srgbClr val="38BDF8"/>
                </a:solidFill>
              </a:defRPr>
            </a:pPr>
            <a:r>
              <a:t>➤ MARCHE DE L’INTERNET DE TELEPHONIE FIXE ........................................................... 2 </a:t>
            </a:r>
            <a:br/>
            <a:r>
              <a:t>2.1....</a:t>
            </a:r>
          </a:p>
          <a:p>
            <a:pPr>
              <a:defRPr sz="1600">
                <a:solidFill>
                  <a:srgbClr val="38BDF8"/>
                </a:solidFill>
              </a:defRPr>
            </a:pPr>
            <a:r>
              <a:t>➤ MARCHE DE L’INTERNET DE TELEPHONIE MOBILE ...................................................... 4 </a:t>
            </a:r>
            <a:br/>
            <a:r>
              <a:t>3.1....</a:t>
            </a:r>
          </a:p>
          <a:p>
            <a:pPr>
              <a:defRPr sz="1600">
                <a:solidFill>
                  <a:srgbClr val="38BDF8"/>
                </a:solidFill>
              </a:defRPr>
            </a:pPr>
            <a:r>
              <a:t>➤ ÉVOLUTION DU MARCHE DE L’INTERNET EN ALGERIE ................................................. 6 </a:t>
            </a:r>
            <a:br/>
            <a:r>
              <a:t>4.1.ÉVOLUTION DU PARC GLOBAL DES ABONNES DE L’INTERN...</a:t>
            </a:r>
          </a:p>
        </p:txBody>
      </p:sp>
    </p:spTree>
  </p:cSld>
  <p:clrMapOvr>
    <a:masterClrMapping/>
  </p:clrMapOvr>
  <p:transition xmlns:p="http://schemas.openxmlformats.org/officeDocument/2006/main">
    <p:fade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FFFFFF"/>
                </a:solidFill>
                <a:latin typeface="Arial"/>
              </a:rPr>
              <a:t>Conclusion &amp; Perspectives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ln w="25400">
            <a:solidFill>
              <a:srgbClr val="38BDF8"/>
            </a:solidFill>
          </a:ln>
        </p:spPr>
        <p:txBody>
          <a:bodyPr/>
          <a:lstStyle/>
          <a:p/>
          <a:p>
            <a:pPr>
              <a:defRPr sz="2400" b="1">
                <a:solidFill>
                  <a:srgbClr val="FFFFFF"/>
                </a:solidFill>
              </a:defRPr>
            </a:pPr>
            <a:r>
              <a:t>Les 3 chiffres les plus impactants du rapport :</a:t>
            </a:r>
          </a:p>
          <a:p>
            <a:pPr>
              <a:defRPr sz="3600" b="1">
                <a:solidFill>
                  <a:srgbClr val="38BDF8"/>
                </a:solidFill>
              </a:defRPr>
            </a:pPr>
            <a:r>
              <a:t>• Internet: 2025.0 abonnés</a:t>
            </a:r>
          </a:p>
          <a:p>
            <a:pPr>
              <a:defRPr sz="3600" b="1">
                <a:solidFill>
                  <a:srgbClr val="38BDF8"/>
                </a:solidFill>
              </a:defRPr>
            </a:pPr>
            <a:r>
              <a:t>• 4g: 2025.0 abonnés</a:t>
            </a:r>
          </a:p>
          <a:p>
            <a:pPr>
              <a:defRPr sz="3600" b="1">
                <a:solidFill>
                  <a:srgbClr val="38BDF8"/>
                </a:solidFill>
              </a:defRPr>
            </a:pPr>
            <a:r>
              <a:t>• Abonnés: 2025.0 utilisateurs</a:t>
            </a:r>
          </a:p>
        </p:txBody>
      </p:sp>
    </p:spTree>
  </p:cSld>
  <p:clrMapOvr>
    <a:masterClrMapping/>
  </p:clrMapOvr>
  <p:transition xmlns:p="http://schemas.openxmlformats.org/officeDocument/2006/main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